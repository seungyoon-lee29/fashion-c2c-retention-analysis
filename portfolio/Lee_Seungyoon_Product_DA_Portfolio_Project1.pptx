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676656"/>
            <a:ext cx="1115568" cy="256032"/>
          </a:xfrm>
          <a:prstGeom prst="rect">
            <a:avLst/>
          </a:prstGeom>
          <a:solidFill>
            <a:srgbClr val="1C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736092"/>
            <a:ext cx="960120" cy="10972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34440"/>
            <a:ext cx="7132320" cy="41148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패션 C2C 신규 유저 리텐션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83080"/>
            <a:ext cx="7132320" cy="32004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1400" b="0">
                <a:solidFill>
                  <a:srgbClr val="E0F2EE"/>
                </a:solidFill>
                <a:latin typeface="Aptos"/>
              </a:rPr>
              <a:t>관측 로그를 A/B 실험 설계로 연결한 Product/Growth DA 대표 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349240"/>
            <a:ext cx="5212080" cy="25603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이승윤 | Product / Growth Data Analyst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687568"/>
            <a:ext cx="6126480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950" b="0">
                <a:solidFill>
                  <a:srgbClr val="E0F2EE"/>
                </a:solidFill>
                <a:latin typeface="Aptos"/>
              </a:rPr>
              <a:t>sy3097@gmail.com  |  github.com/seungyoon-lee29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989320"/>
            <a:ext cx="6766560" cy="18288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720" b="0">
                <a:solidFill>
                  <a:srgbClr val="E0F2EE"/>
                </a:solidFill>
                <a:latin typeface="Aptos"/>
              </a:rPr>
              <a:t>Source: Mercari MerRec (`mercari-us/merrec`), 20230501 parquet x5, local cache `data/raw`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234440"/>
            <a:ext cx="338328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0" y="1234440"/>
            <a:ext cx="64008" cy="9601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36992" y="1371600"/>
            <a:ext cx="3063240" cy="329184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2100" b="1">
                <a:solidFill>
                  <a:srgbClr val="0F766E"/>
                </a:solidFill>
                <a:latin typeface="Aptos"/>
              </a:rPr>
              <a:t>2.77M events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36992" y="1755648"/>
            <a:ext cx="3063240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950" b="1">
                <a:solidFill>
                  <a:srgbClr val="1C2026"/>
                </a:solidFill>
                <a:latin typeface="Aptos"/>
              </a:rPr>
              <a:t>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992" y="2020824"/>
            <a:ext cx="3063240" cy="82296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50" b="0">
                <a:solidFill>
                  <a:srgbClr val="5B6676"/>
                </a:solidFill>
                <a:latin typeface="Aptos"/>
              </a:rPr>
              <a:t>Mercari MerRec C2C behavior logs, 20230501 parquet x5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2395728"/>
            <a:ext cx="338328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0" y="2395728"/>
            <a:ext cx="64008" cy="9601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36992" y="2532888"/>
            <a:ext cx="3063240" cy="329184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2100" b="1">
                <a:solidFill>
                  <a:srgbClr val="0F766E"/>
                </a:solidFill>
                <a:latin typeface="Aptos"/>
              </a:rPr>
              <a:t>43,311 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6992" y="2916936"/>
            <a:ext cx="3063240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950" b="1">
                <a:solidFill>
                  <a:srgbClr val="1C2026"/>
                </a:solidFill>
                <a:latin typeface="Aptos"/>
              </a:rPr>
              <a:t>Users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6992" y="3182112"/>
            <a:ext cx="3063240" cy="82296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50" b="0">
                <a:solidFill>
                  <a:srgbClr val="5B6676"/>
                </a:solidFill>
                <a:latin typeface="Aptos"/>
              </a:rPr>
              <a:t>New observed user journey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3557016"/>
            <a:ext cx="338328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3557016"/>
            <a:ext cx="64008" cy="9601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36992" y="3694176"/>
            <a:ext cx="3063240" cy="329184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2100" b="1">
                <a:solidFill>
                  <a:srgbClr val="B45309"/>
                </a:solidFill>
                <a:latin typeface="Aptos"/>
              </a:rPr>
              <a:t>A/B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078224"/>
            <a:ext cx="3063240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950" b="1">
                <a:solidFill>
                  <a:srgbClr val="1C2026"/>
                </a:solidFill>
                <a:latin typeface="Aptos"/>
              </a:rPr>
              <a:t>Final handoff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36992" y="4343400"/>
            <a:ext cx="3063240" cy="82296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50" b="0">
                <a:solidFill>
                  <a:srgbClr val="5B6676"/>
                </a:solidFill>
                <a:latin typeface="Aptos"/>
              </a:rPr>
              <a:t>First-session exploration breadth nudge A/B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955279" cy="34747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2200" b="1">
                <a:solidFill>
                  <a:srgbClr val="1C2026"/>
                </a:solidFill>
                <a:latin typeface="Aptos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85800"/>
            <a:ext cx="7589520" cy="25603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950" b="0">
                <a:solidFill>
                  <a:srgbClr val="5B6676"/>
                </a:solidFill>
                <a:latin typeface="Aptos"/>
              </a:rPr>
              <a:t>구매가 아니라 D7 재방문을 실험 KPI로 전환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347472"/>
            <a:ext cx="1234440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r"/>
            <a:r>
              <a:rPr sz="850" b="0">
                <a:solidFill>
                  <a:srgbClr val="5B6676"/>
                </a:solidFill>
                <a:latin typeface="Aptos"/>
              </a:rPr>
              <a:t>Project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5568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260604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64008" cy="13258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71600"/>
            <a:ext cx="2286000" cy="329184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2100" b="1">
                <a:solidFill>
                  <a:srgbClr val="B45309"/>
                </a:solidFill>
                <a:latin typeface="Aptos"/>
              </a:rPr>
              <a:t>4.4%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755648"/>
            <a:ext cx="2286000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950" b="1">
                <a:solidFill>
                  <a:srgbClr val="1C2026"/>
                </a:solidFill>
                <a:latin typeface="Aptos"/>
              </a:rPr>
              <a:t>구매완료율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020824"/>
            <a:ext cx="2286000" cy="448056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50" b="0">
                <a:solidFill>
                  <a:srgbClr val="5B6676"/>
                </a:solidFill>
                <a:latin typeface="Aptos"/>
              </a:rPr>
              <a:t>구매 전환만으로는 신규 유저 경험 의사결정이 어렵다.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234440"/>
            <a:ext cx="260604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234440"/>
            <a:ext cx="64008" cy="13258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1371600"/>
            <a:ext cx="2286000" cy="329184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2100" b="1">
                <a:solidFill>
                  <a:srgbClr val="0F766E"/>
                </a:solidFill>
                <a:latin typeface="Aptos"/>
              </a:rPr>
              <a:t>50.1%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1755648"/>
            <a:ext cx="2286000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950" b="1">
                <a:solidFill>
                  <a:srgbClr val="1C2026"/>
                </a:solidFill>
                <a:latin typeface="Aptos"/>
              </a:rPr>
              <a:t>D7 재방문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020824"/>
            <a:ext cx="2286000" cy="448056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50" b="0">
                <a:solidFill>
                  <a:srgbClr val="5B6676"/>
                </a:solidFill>
                <a:latin typeface="Aptos"/>
              </a:rPr>
              <a:t>실험의 primary KPI로 전환했다.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234440"/>
            <a:ext cx="260604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234440"/>
            <a:ext cx="64008" cy="13258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1371600"/>
            <a:ext cx="2286000" cy="329184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2100" b="1">
                <a:solidFill>
                  <a:srgbClr val="0F766E"/>
                </a:solidFill>
                <a:latin typeface="Aptos"/>
              </a:rPr>
              <a:t>+27pp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1755648"/>
            <a:ext cx="2286000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950" b="1">
                <a:solidFill>
                  <a:srgbClr val="1C2026"/>
                </a:solidFill>
                <a:latin typeface="Aptos"/>
              </a:rPr>
              <a:t>코호트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1" y="2020824"/>
            <a:ext cx="2286000" cy="448056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50" b="0">
                <a:solidFill>
                  <a:srgbClr val="5B6676"/>
                </a:solidFill>
                <a:latin typeface="Aptos"/>
              </a:rPr>
              <a:t>첫날 활동 폭 상위-하위 관측 차이. 인과효과 아님.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1234440"/>
            <a:ext cx="242316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98280" y="1234440"/>
            <a:ext cx="64008" cy="1325880"/>
          </a:xfrm>
          <a:prstGeom prst="rect">
            <a:avLst/>
          </a:prstGeom>
          <a:solidFill>
            <a:srgbClr val="1C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872" y="1371600"/>
            <a:ext cx="2103120" cy="329184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2100" b="1">
                <a:solidFill>
                  <a:srgbClr val="1C2B43"/>
                </a:solidFill>
                <a:latin typeface="Aptos"/>
              </a:rPr>
              <a:t>9,805/arm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1755648"/>
            <a:ext cx="2103120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950" b="1">
                <a:solidFill>
                  <a:srgbClr val="1C2026"/>
                </a:solidFill>
                <a:latin typeface="Aptos"/>
              </a:rPr>
              <a:t>실험 규모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2020824"/>
            <a:ext cx="2103120" cy="448056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50" b="0">
                <a:solidFill>
                  <a:srgbClr val="5B6676"/>
                </a:solidFill>
                <a:latin typeface="Aptos"/>
              </a:rPr>
              <a:t>MDE 2.0pp 기준 필요 표본.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063240"/>
            <a:ext cx="3840480" cy="29260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1600" b="1">
                <a:solidFill>
                  <a:srgbClr val="1C2026"/>
                </a:solidFill>
                <a:latin typeface="Aptos"/>
              </a:rPr>
              <a:t>핵심 판단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520440"/>
            <a:ext cx="4709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"/>
              </a:spcAft>
            </a:pPr>
            <a:r>
              <a:rPr sz="1200">
                <a:solidFill>
                  <a:srgbClr val="1C2026"/>
                </a:solidFill>
                <a:latin typeface="Aptos"/>
              </a:rPr>
              <a:t>구매완료율 4.4%는 희소해 신규 유저 경험의 주지표로 약하다.</a:t>
            </a:r>
          </a:p>
          <a:p>
            <a:pPr>
              <a:spcAft>
                <a:spcPts val="144"/>
              </a:spcAft>
            </a:pPr>
            <a:r>
              <a:rPr sz="1200">
                <a:solidFill>
                  <a:srgbClr val="1C2026"/>
                </a:solidFill>
                <a:latin typeface="Aptos"/>
              </a:rPr>
              <a:t>D7 재방문 50.1%를 primary KPI로 두면 더 안정적으로 실험할 수 있다.</a:t>
            </a:r>
          </a:p>
          <a:p>
            <a:pPr>
              <a:spcAft>
                <a:spcPts val="144"/>
              </a:spcAft>
            </a:pPr>
            <a:r>
              <a:rPr sz="1200">
                <a:solidFill>
                  <a:srgbClr val="1C2026"/>
                </a:solidFill>
                <a:latin typeface="Aptos"/>
              </a:rPr>
              <a:t>첫날 활동 폭은 강한 후보 신호지만, 관측 데이터만으로 인과효과를 확정하지 않는다.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3063240"/>
            <a:ext cx="5166360" cy="2240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89320" y="3063240"/>
            <a:ext cx="64008" cy="2240280"/>
          </a:xfrm>
          <a:prstGeom prst="rect">
            <a:avLst/>
          </a:prstGeom>
          <a:solidFill>
            <a:srgbClr val="1F4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53912" y="3200400"/>
            <a:ext cx="4846320" cy="329184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2100" b="1">
                <a:solidFill>
                  <a:srgbClr val="1F4F46"/>
                </a:solidFill>
                <a:latin typeface="Aptos"/>
              </a:rPr>
              <a:t>First-session exploration breadth nudge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3912" y="3584448"/>
            <a:ext cx="4846320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950" b="1">
                <a:solidFill>
                  <a:srgbClr val="1C2026"/>
                </a:solidFill>
                <a:latin typeface="Aptos"/>
              </a:rPr>
              <a:t>결론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53912" y="3849624"/>
            <a:ext cx="4846320" cy="1362456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50" b="0">
                <a:solidFill>
                  <a:srgbClr val="5B6676"/>
                </a:solidFill>
                <a:latin typeface="Aptos"/>
              </a:rPr>
              <a:t>카트 최적화가 아니라 첫 세션에서 인접 카테고리와 저장 후보를 노출하는 탐색 폭 넛지를 A/B로 검증한다.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19088"/>
            <a:ext cx="3657600" cy="18288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750" b="0">
                <a:solidFill>
                  <a:srgbClr val="5B6676"/>
                </a:solidFill>
                <a:latin typeface="Aptos"/>
              </a:rPr>
              <a:t>이승윤 | Product / Growth Data Analyst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6419088"/>
            <a:ext cx="4023360" cy="18288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r"/>
            <a:r>
              <a:rPr sz="750" b="0">
                <a:solidFill>
                  <a:srgbClr val="5B6676"/>
                </a:solidFill>
                <a:latin typeface="Aptos"/>
              </a:rPr>
              <a:t>github.com/seungyoon-lee29/fashion-c2c-retention-analysis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955279" cy="34747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2200" b="1">
                <a:solidFill>
                  <a:srgbClr val="1C2026"/>
                </a:solidFill>
                <a:latin typeface="Aptos"/>
              </a:rPr>
              <a:t>Data QA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85800"/>
            <a:ext cx="7589520" cy="25603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950" b="0">
                <a:solidFill>
                  <a:srgbClr val="5B6676"/>
                </a:solidFill>
                <a:latin typeface="Aptos"/>
              </a:rPr>
              <a:t>분석 가능한 로그인지 먼저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347472"/>
            <a:ext cx="1234440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r"/>
            <a:r>
              <a:rPr sz="850" b="0">
                <a:solidFill>
                  <a:srgbClr val="5B6676"/>
                </a:solidFill>
                <a:latin typeface="Aptos"/>
              </a:rPr>
              <a:t>Project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5568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246888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64008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417319"/>
            <a:ext cx="2148840" cy="329184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2100" b="1">
                <a:solidFill>
                  <a:srgbClr val="0F766E"/>
                </a:solidFill>
                <a:latin typeface="Aptos"/>
              </a:rPr>
              <a:t>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801367"/>
            <a:ext cx="2148840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950" b="1">
                <a:solidFill>
                  <a:srgbClr val="1C2026"/>
                </a:solidFill>
                <a:latin typeface="Aptos"/>
              </a:rPr>
              <a:t>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066543"/>
            <a:ext cx="2148840" cy="173735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50" b="0">
                <a:solidFill>
                  <a:srgbClr val="5B6676"/>
                </a:solidFill>
                <a:latin typeface="Aptos"/>
              </a:rPr>
              <a:t>Phase-0 data quality gate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280160"/>
            <a:ext cx="246888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280160"/>
            <a:ext cx="64008" cy="1051560"/>
          </a:xfrm>
          <a:prstGeom prst="rect">
            <a:avLst/>
          </a:prstGeom>
          <a:solidFill>
            <a:srgbClr val="1C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2152" y="1417319"/>
            <a:ext cx="2148840" cy="329184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2100" b="1">
                <a:solidFill>
                  <a:srgbClr val="1C2B43"/>
                </a:solidFill>
                <a:latin typeface="Aptos"/>
              </a:rPr>
              <a:t>30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1801367"/>
            <a:ext cx="2148840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950" b="1">
                <a:solidFill>
                  <a:srgbClr val="1C2026"/>
                </a:solidFill>
                <a:latin typeface="Aptos"/>
              </a:rPr>
              <a:t>Time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066543"/>
            <a:ext cx="2148840" cy="173735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50" b="0">
                <a:solidFill>
                  <a:srgbClr val="5B6676"/>
                </a:solidFill>
                <a:latin typeface="Aptos"/>
              </a:rPr>
              <a:t>2023-05-01 ~ 2023-05-31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280160"/>
            <a:ext cx="246888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280160"/>
            <a:ext cx="64008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9631" y="1417319"/>
            <a:ext cx="2148840" cy="329184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2100" b="1">
                <a:solidFill>
                  <a:srgbClr val="0F766E"/>
                </a:solidFill>
                <a:latin typeface="Aptos"/>
              </a:rPr>
              <a:t>6 types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1" y="1801367"/>
            <a:ext cx="2148840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950" b="1">
                <a:solidFill>
                  <a:srgbClr val="1C2026"/>
                </a:solidFill>
                <a:latin typeface="Aptos"/>
              </a:rPr>
              <a:t>Events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1" y="2066543"/>
            <a:ext cx="2148840" cy="173735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50" b="0">
                <a:solidFill>
                  <a:srgbClr val="5B6676"/>
                </a:solidFill>
                <a:latin typeface="Aptos"/>
              </a:rPr>
              <a:t>Expected vocabulary only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32520" y="1280160"/>
            <a:ext cx="246888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32520" y="1280160"/>
            <a:ext cx="64008" cy="1051560"/>
          </a:xfrm>
          <a:prstGeom prst="rect">
            <a:avLst/>
          </a:prstGeom>
          <a:solidFill>
            <a:srgbClr val="1C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97112" y="1417319"/>
            <a:ext cx="2148840" cy="329184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2100" b="1">
                <a:solidFill>
                  <a:srgbClr val="1C2B43"/>
                </a:solidFill>
                <a:latin typeface="Aptos"/>
              </a:rPr>
              <a:t>median 25.0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97112" y="1801367"/>
            <a:ext cx="2148840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950" b="1">
                <a:solidFill>
                  <a:srgbClr val="1C2026"/>
                </a:solidFill>
                <a:latin typeface="Aptos"/>
              </a:rPr>
              <a:t>Price QA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7112" y="2066543"/>
            <a:ext cx="2148840" cy="173735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50" b="0">
                <a:solidFill>
                  <a:srgbClr val="5B6676"/>
                </a:solidFill>
                <a:latin typeface="Aptos"/>
              </a:rPr>
              <a:t>No negative or zero prices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" y="2468880"/>
            <a:ext cx="10515600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750" b="0">
                <a:solidFill>
                  <a:srgbClr val="5B6676"/>
                </a:solidFill>
                <a:latin typeface="Aptos"/>
              </a:rPr>
              <a:t>Source: Mercari MerRec (`mercari-us/merrec`), 20230501 parquet x5, local cache `data/raw`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2788920"/>
            <a:ext cx="2383840" cy="384048"/>
          </a:xfrm>
          <a:prstGeom prst="rect">
            <a:avLst/>
          </a:prstGeom>
          <a:solidFill>
            <a:srgbClr val="EEF7F5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2871215"/>
            <a:ext cx="2292400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1">
                <a:solidFill>
                  <a:srgbClr val="1C2026"/>
                </a:solidFill>
                <a:latin typeface="Aptos"/>
              </a:rPr>
              <a:t>Check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42208" y="2788920"/>
            <a:ext cx="4767681" cy="384048"/>
          </a:xfrm>
          <a:prstGeom prst="rect">
            <a:avLst/>
          </a:prstGeom>
          <a:solidFill>
            <a:srgbClr val="EEF7F5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87928" y="2871215"/>
            <a:ext cx="4676241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1">
                <a:solidFill>
                  <a:srgbClr val="1C2026"/>
                </a:solidFill>
                <a:latin typeface="Aptos"/>
              </a:rPr>
              <a:t>Result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09890" y="2788920"/>
            <a:ext cx="3684117" cy="384048"/>
          </a:xfrm>
          <a:prstGeom prst="rect">
            <a:avLst/>
          </a:prstGeom>
          <a:solidFill>
            <a:srgbClr val="EEF7F5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55610" y="2871215"/>
            <a:ext cx="3592677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1">
                <a:solidFill>
                  <a:srgbClr val="1C2026"/>
                </a:solidFill>
                <a:latin typeface="Aptos"/>
              </a:rPr>
              <a:t>Portfolio signal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172968"/>
            <a:ext cx="2383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3255263"/>
            <a:ext cx="2292400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Data source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42208" y="3172968"/>
            <a:ext cx="4767681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87928" y="3255263"/>
            <a:ext cx="4676241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mercari-us/merrec 20230501 parquet x5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09890" y="3172968"/>
            <a:ext cx="368411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55610" y="3255263"/>
            <a:ext cx="3592677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출처 추적 가능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3557015"/>
            <a:ext cx="2383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" y="3639311"/>
            <a:ext cx="2292400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Required fields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42208" y="3557015"/>
            <a:ext cx="4767681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87928" y="3639311"/>
            <a:ext cx="4676241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user_id, stime, session_id, event null 없음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09890" y="3557015"/>
            <a:ext cx="368411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55610" y="3639311"/>
            <a:ext cx="3592677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분석 단위 신뢰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941063"/>
            <a:ext cx="2383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4088" y="4023359"/>
            <a:ext cx="2292400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Event vocabulary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042208" y="3941063"/>
            <a:ext cx="4767681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87928" y="4023359"/>
            <a:ext cx="4676241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6개 expected events 외 값 없음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09890" y="3941063"/>
            <a:ext cx="368411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55610" y="4023359"/>
            <a:ext cx="3592677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퍼널 정의 가능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" y="4325112"/>
            <a:ext cx="2383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4088" y="4407407"/>
            <a:ext cx="2292400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Timestamp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42208" y="4325112"/>
            <a:ext cx="4767681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087928" y="4407407"/>
            <a:ext cx="4676241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2023-05-01 ~ 2023-05-31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09890" y="4325112"/>
            <a:ext cx="368411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855610" y="4407407"/>
            <a:ext cx="3592677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관찰 윈도우 명확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709160"/>
            <a:ext cx="2383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4088" y="4791456"/>
            <a:ext cx="2292400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Known warning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042208" y="4709160"/>
            <a:ext cx="4767681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87928" y="4791456"/>
            <a:ext cx="4676241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반복 로그 키 2,466건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09890" y="4709160"/>
            <a:ext cx="368411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855610" y="4791456"/>
            <a:ext cx="3592677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session_id는 user-scoped로 해석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6419088"/>
            <a:ext cx="3657600" cy="18288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750" b="0">
                <a:solidFill>
                  <a:srgbClr val="5B6676"/>
                </a:solidFill>
                <a:latin typeface="Aptos"/>
              </a:rPr>
              <a:t>이승윤 | Product / Growth Data Analyst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35240" y="6419088"/>
            <a:ext cx="4023360" cy="18288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r"/>
            <a:r>
              <a:rPr sz="750" b="0">
                <a:solidFill>
                  <a:srgbClr val="5B6676"/>
                </a:solidFill>
                <a:latin typeface="Aptos"/>
              </a:rPr>
              <a:t>github.com/seungyoon-lee29/fashion-c2c-retention-analysis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955279" cy="34747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2200" b="1">
                <a:solidFill>
                  <a:srgbClr val="1C2026"/>
                </a:solidFill>
                <a:latin typeface="Aptos"/>
              </a:rPr>
              <a:t>Funnel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85800"/>
            <a:ext cx="7589520" cy="25603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950" b="0">
                <a:solidFill>
                  <a:srgbClr val="5B6676"/>
                </a:solidFill>
                <a:latin typeface="Aptos"/>
              </a:rPr>
              <a:t>최대 유출은 조회에서 찜으로 넘어가는 구간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347472"/>
            <a:ext cx="1234440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r"/>
            <a:r>
              <a:rPr sz="850" b="0">
                <a:solidFill>
                  <a:srgbClr val="5B6676"/>
                </a:solidFill>
                <a:latin typeface="Aptos"/>
              </a:rPr>
              <a:t>Project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5568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1417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64008" cy="9601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554480"/>
            <a:ext cx="1097280" cy="329184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2100" b="1">
                <a:solidFill>
                  <a:srgbClr val="0F766E"/>
                </a:solidFill>
                <a:latin typeface="Aptos"/>
              </a:rPr>
              <a:t>98.7%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938528"/>
            <a:ext cx="1097280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950" b="1">
                <a:solidFill>
                  <a:srgbClr val="1C2026"/>
                </a:solidFill>
                <a:latin typeface="Aptos"/>
              </a:rPr>
              <a:t>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203704"/>
            <a:ext cx="1097280" cy="82296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50" b="0">
                <a:solidFill>
                  <a:srgbClr val="5B6676"/>
                </a:solidFill>
                <a:latin typeface="Aptos"/>
              </a:rPr>
              <a:t>user reach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764792"/>
            <a:ext cx="320040" cy="18288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ctr"/>
            <a:r>
              <a:rPr sz="1600" b="1">
                <a:solidFill>
                  <a:srgbClr val="5B6676"/>
                </a:solidFill>
                <a:latin typeface="Aptos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32888" y="1417320"/>
            <a:ext cx="1417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32888" y="1417320"/>
            <a:ext cx="64008" cy="9601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1554480"/>
            <a:ext cx="1097280" cy="329184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2100" b="1">
                <a:solidFill>
                  <a:srgbClr val="0F766E"/>
                </a:solidFill>
                <a:latin typeface="Aptos"/>
              </a:rPr>
              <a:t>52.3%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1938528"/>
            <a:ext cx="1097280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950" b="1">
                <a:solidFill>
                  <a:srgbClr val="1C2026"/>
                </a:solidFill>
                <a:latin typeface="Aptos"/>
              </a:rPr>
              <a:t>like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2203704"/>
            <a:ext cx="1097280" cy="82296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50" b="0">
                <a:solidFill>
                  <a:srgbClr val="5B6676"/>
                </a:solidFill>
                <a:latin typeface="Aptos"/>
              </a:rPr>
              <a:t>user reach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0208" y="1764792"/>
            <a:ext cx="320040" cy="18288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ctr"/>
            <a:r>
              <a:rPr sz="1600" b="1">
                <a:solidFill>
                  <a:srgbClr val="5B6676"/>
                </a:solidFill>
                <a:latin typeface="Aptos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79976" y="1417320"/>
            <a:ext cx="1417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79976" y="1417320"/>
            <a:ext cx="64008" cy="960120"/>
          </a:xfrm>
          <a:prstGeom prst="rect">
            <a:avLst/>
          </a:prstGeom>
          <a:solidFill>
            <a:srgbClr val="1C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1554480"/>
            <a:ext cx="1097280" cy="329184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2100" b="1">
                <a:solidFill>
                  <a:srgbClr val="1C2B43"/>
                </a:solidFill>
                <a:latin typeface="Aptos"/>
              </a:rPr>
              <a:t>22.9%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1938528"/>
            <a:ext cx="1097280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950" b="1">
                <a:solidFill>
                  <a:srgbClr val="1C2026"/>
                </a:solidFill>
                <a:latin typeface="Aptos"/>
              </a:rPr>
              <a:t>cart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8" y="2203704"/>
            <a:ext cx="1097280" cy="82296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50" b="0">
                <a:solidFill>
                  <a:srgbClr val="5B6676"/>
                </a:solidFill>
                <a:latin typeface="Aptos"/>
              </a:rPr>
              <a:t>user reach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97296" y="1764792"/>
            <a:ext cx="320040" cy="18288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ctr"/>
            <a:r>
              <a:rPr sz="1600" b="1">
                <a:solidFill>
                  <a:srgbClr val="5B6676"/>
                </a:solidFill>
                <a:latin typeface="Aptos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27064" y="1417320"/>
            <a:ext cx="1417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27064" y="1417320"/>
            <a:ext cx="64008" cy="960120"/>
          </a:xfrm>
          <a:prstGeom prst="rect">
            <a:avLst/>
          </a:prstGeom>
          <a:solidFill>
            <a:srgbClr val="1C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1656" y="1554480"/>
            <a:ext cx="1097280" cy="329184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2100" b="1">
                <a:solidFill>
                  <a:srgbClr val="1C2B43"/>
                </a:solidFill>
                <a:latin typeface="Aptos"/>
              </a:rPr>
              <a:t>17.1%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656" y="1938528"/>
            <a:ext cx="1097280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950" b="1">
                <a:solidFill>
                  <a:srgbClr val="1C2026"/>
                </a:solidFill>
                <a:latin typeface="Aptos"/>
              </a:rPr>
              <a:t>offer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2203704"/>
            <a:ext cx="1097280" cy="82296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50" b="0">
                <a:solidFill>
                  <a:srgbClr val="5B6676"/>
                </a:solidFill>
                <a:latin typeface="Aptos"/>
              </a:rPr>
              <a:t>user reach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44384" y="1764792"/>
            <a:ext cx="320040" cy="18288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ctr"/>
            <a:r>
              <a:rPr sz="1600" b="1">
                <a:solidFill>
                  <a:srgbClr val="5B6676"/>
                </a:solidFill>
                <a:latin typeface="Aptos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74152" y="1417320"/>
            <a:ext cx="1417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74152" y="1417320"/>
            <a:ext cx="64008" cy="960120"/>
          </a:xfrm>
          <a:prstGeom prst="rect">
            <a:avLst/>
          </a:prstGeom>
          <a:solidFill>
            <a:srgbClr val="1C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38744" y="1554480"/>
            <a:ext cx="1097280" cy="329184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2100" b="1">
                <a:solidFill>
                  <a:srgbClr val="1C2B43"/>
                </a:solidFill>
                <a:latin typeface="Aptos"/>
              </a:rPr>
              <a:t>5.7%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8744" y="1938528"/>
            <a:ext cx="1097280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950" b="1">
                <a:solidFill>
                  <a:srgbClr val="1C2026"/>
                </a:solidFill>
                <a:latin typeface="Aptos"/>
              </a:rPr>
              <a:t>buy_start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38744" y="2203704"/>
            <a:ext cx="1097280" cy="82296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50" b="0">
                <a:solidFill>
                  <a:srgbClr val="5B6676"/>
                </a:solidFill>
                <a:latin typeface="Aptos"/>
              </a:rPr>
              <a:t>user reach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91472" y="1764792"/>
            <a:ext cx="320040" cy="18288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ctr"/>
            <a:r>
              <a:rPr sz="1600" b="1">
                <a:solidFill>
                  <a:srgbClr val="5B6676"/>
                </a:solidFill>
                <a:latin typeface="Aptos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21240" y="1417320"/>
            <a:ext cx="1417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921240" y="1417320"/>
            <a:ext cx="64008" cy="9601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85832" y="1554480"/>
            <a:ext cx="1097280" cy="329184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2100" b="1">
                <a:solidFill>
                  <a:srgbClr val="B45309"/>
                </a:solidFill>
                <a:latin typeface="Aptos"/>
              </a:rPr>
              <a:t>4.4%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85832" y="1938528"/>
            <a:ext cx="1097280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950" b="1">
                <a:solidFill>
                  <a:srgbClr val="1C2026"/>
                </a:solidFill>
                <a:latin typeface="Aptos"/>
              </a:rPr>
              <a:t>buy_comp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85832" y="2203704"/>
            <a:ext cx="1097280" cy="82296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50" b="0">
                <a:solidFill>
                  <a:srgbClr val="5B6676"/>
                </a:solidFill>
                <a:latin typeface="Aptos"/>
              </a:rPr>
              <a:t>user reach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" y="2971800"/>
            <a:ext cx="4983480" cy="1554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85800" y="2971800"/>
            <a:ext cx="64008" cy="15544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0392" y="3108960"/>
            <a:ext cx="4663440" cy="329184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2100" b="1">
                <a:solidFill>
                  <a:srgbClr val="B45309"/>
                </a:solidFill>
                <a:latin typeface="Aptos"/>
              </a:rPr>
              <a:t>20,082 users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" y="3493008"/>
            <a:ext cx="4663440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950" b="1">
                <a:solidFill>
                  <a:srgbClr val="1C2026"/>
                </a:solidFill>
                <a:latin typeface="Aptos"/>
              </a:rPr>
              <a:t>Largest leak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" y="3758184"/>
            <a:ext cx="4663440" cy="676656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50" b="0">
                <a:solidFill>
                  <a:srgbClr val="5B6676"/>
                </a:solidFill>
                <a:latin typeface="Aptos"/>
              </a:rPr>
              <a:t>조회 -&gt; 찜 구간에서 직전 도달 후 미도달 20,082명. 조회 직후 저장 후보 또는 인접 카테고리 노출이 실험 후보로 연결된다.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2971800"/>
            <a:ext cx="5166360" cy="1554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989320" y="2971800"/>
            <a:ext cx="64008" cy="1554480"/>
          </a:xfrm>
          <a:prstGeom prst="rect">
            <a:avLst/>
          </a:prstGeom>
          <a:solidFill>
            <a:srgbClr val="1F4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53912" y="3108960"/>
            <a:ext cx="4846320" cy="329184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2100" b="1">
                <a:solidFill>
                  <a:srgbClr val="1F4F46"/>
                </a:solidFill>
                <a:latin typeface="Aptos"/>
              </a:rPr>
              <a:t>KPI switch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53912" y="3493008"/>
            <a:ext cx="4846320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950" b="1">
                <a:solidFill>
                  <a:srgbClr val="1C2026"/>
                </a:solidFill>
                <a:latin typeface="Aptos"/>
              </a:rPr>
              <a:t>Decision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53912" y="3758184"/>
            <a:ext cx="4846320" cy="676656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50" b="0">
                <a:solidFill>
                  <a:srgbClr val="5B6676"/>
                </a:solidFill>
                <a:latin typeface="Aptos"/>
              </a:rPr>
              <a:t>구매완료율 4.4%는 너무 희소하다. 신규 유저 경험의 북극성은 구매 전환이 아니라 D7 재방문으로 둔다.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419088"/>
            <a:ext cx="3657600" cy="18288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750" b="0">
                <a:solidFill>
                  <a:srgbClr val="5B6676"/>
                </a:solidFill>
                <a:latin typeface="Aptos"/>
              </a:rPr>
              <a:t>이승윤 | Product / Growth Data Analyst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6419088"/>
            <a:ext cx="4023360" cy="18288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r"/>
            <a:r>
              <a:rPr sz="750" b="0">
                <a:solidFill>
                  <a:srgbClr val="5B6676"/>
                </a:solidFill>
                <a:latin typeface="Aptos"/>
              </a:rPr>
              <a:t>github.com/seungyoon-lee29/fashion-c2c-retention-analysis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955279" cy="34747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2200" b="1">
                <a:solidFill>
                  <a:srgbClr val="1C2026"/>
                </a:solidFill>
                <a:latin typeface="Aptos"/>
              </a:rPr>
              <a:t>Cohort Signal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85800"/>
            <a:ext cx="7589520" cy="25603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950" b="0">
                <a:solidFill>
                  <a:srgbClr val="5B6676"/>
                </a:solidFill>
                <a:latin typeface="Aptos"/>
              </a:rPr>
              <a:t>첫날 경험 폭이 넓은 유저가 더 돌아온다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347472"/>
            <a:ext cx="1234440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r"/>
            <a:r>
              <a:rPr sz="850" b="0">
                <a:solidFill>
                  <a:srgbClr val="5B6676"/>
                </a:solidFill>
                <a:latin typeface="Aptos"/>
              </a:rPr>
              <a:t>Project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5568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3017520" cy="1280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64008" cy="12801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371600"/>
            <a:ext cx="2697479" cy="329184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2100" b="1">
                <a:solidFill>
                  <a:srgbClr val="0F766E"/>
                </a:solidFill>
                <a:latin typeface="Aptos"/>
              </a:rPr>
              <a:t>50.1%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755648"/>
            <a:ext cx="2697479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950" b="1">
                <a:solidFill>
                  <a:srgbClr val="1C2026"/>
                </a:solidFill>
                <a:latin typeface="Aptos"/>
              </a:rPr>
              <a:t>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020824"/>
            <a:ext cx="2697479" cy="402335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50" b="0">
                <a:solidFill>
                  <a:srgbClr val="5B6676"/>
                </a:solidFill>
                <a:latin typeface="Aptos"/>
              </a:rPr>
              <a:t>신규 관측 유저 D7 재방문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7639" y="1234440"/>
            <a:ext cx="3017520" cy="1280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77639" y="1234440"/>
            <a:ext cx="64008" cy="1280160"/>
          </a:xfrm>
          <a:prstGeom prst="rect">
            <a:avLst/>
          </a:prstGeom>
          <a:solidFill>
            <a:srgbClr val="1C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42231" y="1371600"/>
            <a:ext cx="2697479" cy="329184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2100" b="1">
                <a:solidFill>
                  <a:srgbClr val="1C2B43"/>
                </a:solidFill>
                <a:latin typeface="Aptos"/>
              </a:rPr>
              <a:t>39.3%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42231" y="1755648"/>
            <a:ext cx="2697479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950" b="1">
                <a:solidFill>
                  <a:srgbClr val="1C2026"/>
                </a:solidFill>
                <a:latin typeface="Aptos"/>
              </a:rPr>
              <a:t>Q1 first-day activity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42231" y="2020824"/>
            <a:ext cx="2697479" cy="402335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50" b="0">
                <a:solidFill>
                  <a:srgbClr val="5B6676"/>
                </a:solidFill>
                <a:latin typeface="Aptos"/>
              </a:rPr>
              <a:t>첫날 활동량 하위 코호트 D7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69480" y="1234440"/>
            <a:ext cx="3017520" cy="1280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69480" y="1234440"/>
            <a:ext cx="64008" cy="1280160"/>
          </a:xfrm>
          <a:prstGeom prst="rect">
            <a:avLst/>
          </a:prstGeom>
          <a:solidFill>
            <a:srgbClr val="1F4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34072" y="1371600"/>
            <a:ext cx="2697479" cy="329184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2100" b="1">
                <a:solidFill>
                  <a:srgbClr val="1F4F46"/>
                </a:solidFill>
                <a:latin typeface="Aptos"/>
              </a:rPr>
              <a:t>66.2%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34072" y="1755648"/>
            <a:ext cx="2697479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950" b="1">
                <a:solidFill>
                  <a:srgbClr val="1C2026"/>
                </a:solidFill>
                <a:latin typeface="Aptos"/>
              </a:rPr>
              <a:t>Q4 first-day activity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34072" y="2020824"/>
            <a:ext cx="2697479" cy="402335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50" b="0">
                <a:solidFill>
                  <a:srgbClr val="5B6676"/>
                </a:solidFill>
                <a:latin typeface="Aptos"/>
              </a:rPr>
              <a:t>첫날 활동량 상위 코호트 D7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063240"/>
            <a:ext cx="448056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063240"/>
            <a:ext cx="64008" cy="15087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3200400"/>
            <a:ext cx="4160520" cy="329184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2100" b="1">
                <a:solidFill>
                  <a:srgbClr val="B45309"/>
                </a:solidFill>
                <a:latin typeface="Aptos"/>
              </a:rPr>
              <a:t>+27pp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3584448"/>
            <a:ext cx="4160520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950" b="1">
                <a:solidFill>
                  <a:srgbClr val="1C2026"/>
                </a:solidFill>
                <a:latin typeface="Aptos"/>
              </a:rPr>
              <a:t>Observed gap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3849624"/>
            <a:ext cx="4160520" cy="630936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50" b="0">
                <a:solidFill>
                  <a:srgbClr val="5B6676"/>
                </a:solidFill>
                <a:latin typeface="Aptos"/>
              </a:rPr>
              <a:t>첫날 활동 폭 상위-하위 코호트의 D7 재방문 차이. 이 값은 목표 uplift가 아니라 후보 신호다.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3063240"/>
            <a:ext cx="480060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0" y="3063240"/>
            <a:ext cx="64008" cy="1508760"/>
          </a:xfrm>
          <a:prstGeom prst="rect">
            <a:avLst/>
          </a:prstGeom>
          <a:solidFill>
            <a:srgbClr val="1F4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50992" y="3200400"/>
            <a:ext cx="4480560" cy="329184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2100" b="1">
                <a:solidFill>
                  <a:srgbClr val="1F4F46"/>
                </a:solidFill>
                <a:latin typeface="Aptos"/>
              </a:rPr>
              <a:t>Signal, not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50992" y="3584448"/>
            <a:ext cx="4480560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950" b="1">
                <a:solidFill>
                  <a:srgbClr val="1C2026"/>
                </a:solidFill>
                <a:latin typeface="Aptos"/>
              </a:rPr>
              <a:t>Interpretation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50992" y="3849624"/>
            <a:ext cx="4480560" cy="630936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50" b="0">
                <a:solidFill>
                  <a:srgbClr val="5B6676"/>
                </a:solidFill>
                <a:latin typeface="Aptos"/>
              </a:rPr>
              <a:t>첫날 경험 폭은 실험 후보로 충분히 강하다. 하지만 유저의 원래 적극성이 섞여 있으므로 인과효과는 A/B에서만 판단한다.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19088"/>
            <a:ext cx="3657600" cy="18288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750" b="0">
                <a:solidFill>
                  <a:srgbClr val="5B6676"/>
                </a:solidFill>
                <a:latin typeface="Aptos"/>
              </a:rPr>
              <a:t>이승윤 | Product / Growth Data Analyst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6419088"/>
            <a:ext cx="4023360" cy="18288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r"/>
            <a:r>
              <a:rPr sz="750" b="0">
                <a:solidFill>
                  <a:srgbClr val="5B6676"/>
                </a:solidFill>
                <a:latin typeface="Aptos"/>
              </a:rPr>
              <a:t>github.com/seungyoon-lee29/fashion-c2c-retention-analysis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955279" cy="34747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2200" b="1">
                <a:solidFill>
                  <a:srgbClr val="1C2026"/>
                </a:solidFill>
                <a:latin typeface="Aptos"/>
              </a:rPr>
              <a:t>Identification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85800"/>
            <a:ext cx="7589520" cy="25603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950" b="0">
                <a:solidFill>
                  <a:srgbClr val="5B6676"/>
                </a:solidFill>
                <a:latin typeface="Aptos"/>
              </a:rPr>
              <a:t>좋아 보이는 레버를 그대로 믿지 않았다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347472"/>
            <a:ext cx="1234440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r"/>
            <a:r>
              <a:rPr sz="850" b="0">
                <a:solidFill>
                  <a:srgbClr val="5B6676"/>
                </a:solidFill>
                <a:latin typeface="Aptos"/>
              </a:rPr>
              <a:t>Project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5568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2867558" cy="384048"/>
          </a:xfrm>
          <a:prstGeom prst="rect">
            <a:avLst/>
          </a:prstGeom>
          <a:solidFill>
            <a:srgbClr val="EEF7F5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08176"/>
            <a:ext cx="2776118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1">
                <a:solidFill>
                  <a:srgbClr val="1C2026"/>
                </a:solidFill>
                <a:latin typeface="Aptos"/>
              </a:rPr>
              <a:t>Candidate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599078" y="1325880"/>
            <a:ext cx="2253081" cy="384048"/>
          </a:xfrm>
          <a:prstGeom prst="rect">
            <a:avLst/>
          </a:prstGeom>
          <a:solidFill>
            <a:srgbClr val="EEF7F5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44798" y="1408176"/>
            <a:ext cx="2161641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1">
                <a:solidFill>
                  <a:srgbClr val="1C2026"/>
                </a:solidFill>
                <a:latin typeface="Aptos"/>
              </a:rPr>
              <a:t>Naive association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325880"/>
            <a:ext cx="2457907" cy="384048"/>
          </a:xfrm>
          <a:prstGeom prst="rect">
            <a:avLst/>
          </a:prstGeom>
          <a:solidFill>
            <a:srgbClr val="EEF7F5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97880" y="1408176"/>
            <a:ext cx="2366467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1">
                <a:solidFill>
                  <a:srgbClr val="1C2026"/>
                </a:solidFill>
                <a:latin typeface="Aptos"/>
              </a:rPr>
              <a:t>Adjusted diagnostic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10067" y="1325880"/>
            <a:ext cx="2662732" cy="384048"/>
          </a:xfrm>
          <a:prstGeom prst="rect">
            <a:avLst/>
          </a:prstGeom>
          <a:solidFill>
            <a:srgbClr val="EEF7F5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5787" y="1408176"/>
            <a:ext cx="2571292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1">
                <a:solidFill>
                  <a:srgbClr val="1C2026"/>
                </a:solidFill>
                <a:latin typeface="Aptos"/>
              </a:rPr>
              <a:t>Decision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1709928"/>
            <a:ext cx="2867558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792224"/>
            <a:ext cx="2776118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cart&gt;=1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99078" y="1709928"/>
            <a:ext cx="2253081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44798" y="1792224"/>
            <a:ext cx="2161641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+16.0pp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1709928"/>
            <a:ext cx="245790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1792224"/>
            <a:ext cx="2366467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+3.2pp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10067" y="1709928"/>
            <a:ext cx="2662732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5787" y="1792224"/>
            <a:ext cx="2571292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양성 확정 불가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093976"/>
            <a:ext cx="2867558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176272"/>
            <a:ext cx="2776118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cat&gt;=3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99078" y="2093976"/>
            <a:ext cx="2253081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44798" y="2176272"/>
            <a:ext cx="2161641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+25.4pp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52160" y="2093976"/>
            <a:ext cx="245790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2176272"/>
            <a:ext cx="2366467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-6.5pp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10067" y="2093976"/>
            <a:ext cx="2662732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5787" y="2176272"/>
            <a:ext cx="2571292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보정 후 불안정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2478024"/>
            <a:ext cx="2867558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2560320"/>
            <a:ext cx="2776118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like&gt;=3 / offer&gt;=1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99078" y="2478024"/>
            <a:ext cx="2253081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44798" y="2560320"/>
            <a:ext cx="2161641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강한 신호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52160" y="2478024"/>
            <a:ext cx="245790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97880" y="2560320"/>
            <a:ext cx="2366467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overlap 부족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10067" y="2478024"/>
            <a:ext cx="2662732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55787" y="2560320"/>
            <a:ext cx="2571292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점추정 철회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3429000"/>
            <a:ext cx="480060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240" y="3429000"/>
            <a:ext cx="64008" cy="14173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1832" y="3566160"/>
            <a:ext cx="4480560" cy="329184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2100" b="1">
                <a:solidFill>
                  <a:srgbClr val="B91C1C"/>
                </a:solidFill>
                <a:latin typeface="Aptos"/>
              </a:rPr>
              <a:t>Causal honesty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" y="3950208"/>
            <a:ext cx="4480560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950" b="1">
                <a:solidFill>
                  <a:srgbClr val="1C2026"/>
                </a:solidFill>
                <a:latin typeface="Aptos"/>
              </a:rPr>
              <a:t>What changed after adjustment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" y="4215384"/>
            <a:ext cx="4480560" cy="539496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50" b="0">
                <a:solidFill>
                  <a:srgbClr val="5B6676"/>
                </a:solidFill>
                <a:latin typeface="Aptos"/>
              </a:rPr>
              <a:t>겹침이 충분한 레버도 보정 후 0 근처 또는 음수로 약해졌다. 관측 신호를 바로 제품 레버로 해석하면 과대주장 위험이 있다.</a:t>
            </a:r>
          </a:p>
        </p:txBody>
      </p:sp>
      <p:pic>
        <p:nvPicPr>
          <p:cNvPr id="43" name="Picture 42" descr="impact_estim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3017520"/>
            <a:ext cx="4572000" cy="30480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02920" y="6419088"/>
            <a:ext cx="3657600" cy="18288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750" b="0">
                <a:solidFill>
                  <a:srgbClr val="5B6676"/>
                </a:solidFill>
                <a:latin typeface="Aptos"/>
              </a:rPr>
              <a:t>이승윤 | Product / Growth Data Analyst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6419088"/>
            <a:ext cx="4023360" cy="18288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r"/>
            <a:r>
              <a:rPr sz="750" b="0">
                <a:solidFill>
                  <a:srgbClr val="5B6676"/>
                </a:solidFill>
                <a:latin typeface="Aptos"/>
              </a:rPr>
              <a:t>github.com/seungyoon-lee29/fashion-c2c-retention-analysis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955279" cy="34747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2200" b="1">
                <a:solidFill>
                  <a:srgbClr val="1C2026"/>
                </a:solidFill>
                <a:latin typeface="Aptos"/>
              </a:rPr>
              <a:t>Experiment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85800"/>
            <a:ext cx="7589520" cy="25603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950" b="0">
                <a:solidFill>
                  <a:srgbClr val="5B6676"/>
                </a:solidFill>
                <a:latin typeface="Aptos"/>
              </a:rPr>
              <a:t>첫 세션 탐색 폭 넛지 A/B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347472"/>
            <a:ext cx="1234440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r"/>
            <a:r>
              <a:rPr sz="850" b="0">
                <a:solidFill>
                  <a:srgbClr val="5B6676"/>
                </a:solidFill>
                <a:latin typeface="Aptos"/>
              </a:rPr>
              <a:t>Project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5568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493776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64008" cy="1143000"/>
          </a:xfrm>
          <a:prstGeom prst="rect">
            <a:avLst/>
          </a:prstGeom>
          <a:solidFill>
            <a:srgbClr val="1F4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371600"/>
            <a:ext cx="4617720" cy="329184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2100" b="1">
                <a:solidFill>
                  <a:srgbClr val="1F4F46"/>
                </a:solidFill>
                <a:latin typeface="Aptos"/>
              </a:rPr>
              <a:t>H1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755648"/>
            <a:ext cx="4617720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950" b="1">
                <a:solidFill>
                  <a:srgbClr val="1C2026"/>
                </a:solidFill>
                <a:latin typeface="Aptos"/>
              </a:rPr>
              <a:t>Hypothesis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020824"/>
            <a:ext cx="4617720" cy="265176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50" b="0">
                <a:solidFill>
                  <a:srgbClr val="5B6676"/>
                </a:solidFill>
                <a:latin typeface="Aptos"/>
              </a:rPr>
              <a:t>첫 세션에서 인접 카테고리와 저장 후보를 노출하면 D7 재방문이 오른다.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234440"/>
            <a:ext cx="480060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89320" y="1234440"/>
            <a:ext cx="64008" cy="1143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53912" y="1371600"/>
            <a:ext cx="4480560" cy="329184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2100" b="1">
                <a:solidFill>
                  <a:srgbClr val="0F766E"/>
                </a:solidFill>
                <a:latin typeface="Aptos"/>
              </a:rPr>
              <a:t>Exploration breadth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1755648"/>
            <a:ext cx="4480560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950" b="1">
                <a:solidFill>
                  <a:srgbClr val="1C2026"/>
                </a:solidFill>
                <a:latin typeface="Aptos"/>
              </a:rPr>
              <a:t>Treatment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2020824"/>
            <a:ext cx="4480560" cy="265176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50" b="0">
                <a:solidFill>
                  <a:srgbClr val="5B6676"/>
                </a:solidFill>
                <a:latin typeface="Aptos"/>
              </a:rPr>
              <a:t>Adjacent categories + save candidates in first session.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834640"/>
            <a:ext cx="2816352" cy="384048"/>
          </a:xfrm>
          <a:prstGeom prst="rect">
            <a:avLst/>
          </a:prstGeom>
          <a:solidFill>
            <a:srgbClr val="EEF7F5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916936"/>
            <a:ext cx="2724912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1">
                <a:solidFill>
                  <a:srgbClr val="1C2026"/>
                </a:solidFill>
                <a:latin typeface="Aptos"/>
              </a:rPr>
              <a:t>Design item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93592" y="2834640"/>
            <a:ext cx="7242048" cy="384048"/>
          </a:xfrm>
          <a:prstGeom prst="rect">
            <a:avLst/>
          </a:prstGeom>
          <a:solidFill>
            <a:srgbClr val="EEF7F5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9312" y="2916936"/>
            <a:ext cx="7150608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1">
                <a:solidFill>
                  <a:srgbClr val="1C2026"/>
                </a:solidFill>
                <a:latin typeface="Aptos"/>
              </a:rPr>
              <a:t>Spec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218688"/>
            <a:ext cx="2816352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300984"/>
            <a:ext cx="2724912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Randomization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93592" y="3218688"/>
            <a:ext cx="7242048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39312" y="3300984"/>
            <a:ext cx="7150608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User-level 50/50 assignment at first session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602736"/>
            <a:ext cx="2816352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685032"/>
            <a:ext cx="2724912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Primary metric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93592" y="3602736"/>
            <a:ext cx="7242048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39312" y="3685032"/>
            <a:ext cx="7150608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D7 revisit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3986784"/>
            <a:ext cx="2816352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069080"/>
            <a:ext cx="2724912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Guardrails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93592" y="3986784"/>
            <a:ext cx="7242048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39312" y="4069080"/>
            <a:ext cx="7150608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buy completion, immediate bounce, session quality, SRM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370832"/>
            <a:ext cx="2816352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453128"/>
            <a:ext cx="2724912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Power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93592" y="4370832"/>
            <a:ext cx="7242048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39312" y="4453128"/>
            <a:ext cx="7150608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MDE 2.0pp, 9,805 users/arm, estimated 4.7 weeks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19088"/>
            <a:ext cx="3657600" cy="18288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750" b="0">
                <a:solidFill>
                  <a:srgbClr val="5B6676"/>
                </a:solidFill>
                <a:latin typeface="Aptos"/>
              </a:rPr>
              <a:t>이승윤 | Product / Growth Data Analyst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6419088"/>
            <a:ext cx="4023360" cy="18288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r"/>
            <a:r>
              <a:rPr sz="750" b="0">
                <a:solidFill>
                  <a:srgbClr val="5B6676"/>
                </a:solidFill>
                <a:latin typeface="Aptos"/>
              </a:rPr>
              <a:t>github.com/seungyoon-lee29/fashion-c2c-retention-analysis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955279" cy="34747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2200" b="1">
                <a:solidFill>
                  <a:srgbClr val="1C2026"/>
                </a:solidFill>
                <a:latin typeface="Aptos"/>
              </a:rPr>
              <a:t>Decision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85800"/>
            <a:ext cx="7589520" cy="25603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950" b="0">
                <a:solidFill>
                  <a:srgbClr val="5B6676"/>
                </a:solidFill>
                <a:latin typeface="Aptos"/>
              </a:rPr>
              <a:t>성공/중단/반복 기준을 사전에 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347472"/>
            <a:ext cx="1234440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r"/>
            <a:r>
              <a:rPr sz="850" b="0">
                <a:solidFill>
                  <a:srgbClr val="5B6676"/>
                </a:solidFill>
                <a:latin typeface="Aptos"/>
              </a:rPr>
              <a:t>Project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5568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25880"/>
            <a:ext cx="2790748" cy="384048"/>
          </a:xfrm>
          <a:prstGeom prst="rect">
            <a:avLst/>
          </a:prstGeom>
          <a:solidFill>
            <a:srgbClr val="EEF7F5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08176"/>
            <a:ext cx="2699308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1">
                <a:solidFill>
                  <a:srgbClr val="1C2026"/>
                </a:solidFill>
                <a:latin typeface="Aptos"/>
              </a:rP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3708" y="1325880"/>
            <a:ext cx="7176211" cy="384048"/>
          </a:xfrm>
          <a:prstGeom prst="rect">
            <a:avLst/>
          </a:prstGeom>
          <a:solidFill>
            <a:srgbClr val="EEF7F5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9428" y="1408176"/>
            <a:ext cx="7084771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1">
                <a:solidFill>
                  <a:srgbClr val="1C2026"/>
                </a:solidFill>
                <a:latin typeface="Aptos"/>
              </a:rPr>
              <a:t>Rule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09928"/>
            <a:ext cx="2790748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92224"/>
            <a:ext cx="2699308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Ship / scale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3708" y="1709928"/>
            <a:ext cx="7176211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9428" y="1792224"/>
            <a:ext cx="7084771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D7 revisit lift &gt;= 2.0pp and guardrails not worse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093976"/>
            <a:ext cx="2790748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176272"/>
            <a:ext cx="2699308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Iterate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13708" y="2093976"/>
            <a:ext cx="7176211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9428" y="2176272"/>
            <a:ext cx="7084771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Positive but below MDE; inspect segment and UX logs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2478024"/>
            <a:ext cx="2790748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560320"/>
            <a:ext cx="2699308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Stop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13708" y="2478024"/>
            <a:ext cx="7176211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9428" y="2560320"/>
            <a:ext cx="7084771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No lift or guardrail degradation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2862072"/>
            <a:ext cx="2790748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944368"/>
            <a:ext cx="2699308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Invalidate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13708" y="2862072"/>
            <a:ext cx="7176211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9428" y="2944368"/>
            <a:ext cx="7084771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SRM or tracking issue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3246120"/>
            <a:ext cx="2790748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3328415"/>
            <a:ext cx="2699308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Revenue follow-up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13708" y="3246120"/>
            <a:ext cx="7176211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9428" y="3328415"/>
            <a:ext cx="7084771" cy="292607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00" b="0">
                <a:solidFill>
                  <a:srgbClr val="5B6676"/>
                </a:solidFill>
                <a:latin typeface="Aptos"/>
              </a:rPr>
              <a:t>After D7 passes: purchase, repurchase, GMV validation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4343400"/>
            <a:ext cx="996696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4343400"/>
            <a:ext cx="64008" cy="914400"/>
          </a:xfrm>
          <a:prstGeom prst="rect">
            <a:avLst/>
          </a:prstGeom>
          <a:solidFill>
            <a:srgbClr val="1F4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" y="4480560"/>
            <a:ext cx="9646920" cy="329184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2100" b="1">
                <a:solidFill>
                  <a:srgbClr val="1F4F46"/>
                </a:solidFill>
                <a:latin typeface="Aptos"/>
              </a:rPr>
              <a:t>Pre-registered decision logic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" y="4864608"/>
            <a:ext cx="9646920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950" b="1">
                <a:solidFill>
                  <a:srgbClr val="1C2026"/>
                </a:solidFill>
                <a:latin typeface="Aptos"/>
              </a:rPr>
              <a:t>Why this matters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" y="5129784"/>
            <a:ext cx="9646920" cy="36576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50" b="0">
                <a:solidFill>
                  <a:srgbClr val="5B6676"/>
                </a:solidFill>
                <a:latin typeface="Aptos"/>
              </a:rPr>
              <a:t>실험 전 판정 기준을 고정해야 사후 지표 변경과 해석 흔들림을 줄일 수 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19088"/>
            <a:ext cx="3657600" cy="18288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750" b="0">
                <a:solidFill>
                  <a:srgbClr val="5B6676"/>
                </a:solidFill>
                <a:latin typeface="Aptos"/>
              </a:rPr>
              <a:t>이승윤 | Product / Growth Data Analyst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6419088"/>
            <a:ext cx="4023360" cy="18288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r"/>
            <a:r>
              <a:rPr sz="750" b="0">
                <a:solidFill>
                  <a:srgbClr val="5B6676"/>
                </a:solidFill>
                <a:latin typeface="Aptos"/>
              </a:rPr>
              <a:t>github.com/seungyoon-lee29/fashion-c2c-retention-analysis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955279" cy="34747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2200" b="1">
                <a:solidFill>
                  <a:srgbClr val="1C2026"/>
                </a:solidFill>
                <a:latin typeface="Aptos"/>
              </a:rPr>
              <a:t>What This Demonstrates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85800"/>
            <a:ext cx="7589520" cy="256032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950" b="0">
                <a:solidFill>
                  <a:srgbClr val="5B6676"/>
                </a:solidFill>
                <a:latin typeface="Aptos"/>
              </a:rPr>
              <a:t>이 프로젝트가 보여주는 데이터 분석가 역량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347472"/>
            <a:ext cx="1234440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r"/>
            <a:r>
              <a:rPr sz="850" b="0">
                <a:solidFill>
                  <a:srgbClr val="5B6676"/>
                </a:solidFill>
                <a:latin typeface="Aptos"/>
              </a:rPr>
              <a:t>Project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5568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98448"/>
            <a:ext cx="324612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98448"/>
            <a:ext cx="64008" cy="1234440"/>
          </a:xfrm>
          <a:prstGeom prst="rect">
            <a:avLst/>
          </a:prstGeom>
          <a:solidFill>
            <a:srgbClr val="1F4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444751"/>
            <a:ext cx="2926079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1100" b="1">
                <a:solidFill>
                  <a:srgbClr val="1C2026"/>
                </a:solidFill>
                <a:latin typeface="Aptos"/>
              </a:rPr>
              <a:t>1. 문제를 KPI로 바꿨다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737360"/>
            <a:ext cx="2926079" cy="73152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80" b="0">
                <a:solidFill>
                  <a:srgbClr val="5B6676"/>
                </a:solidFill>
                <a:latin typeface="Aptos"/>
              </a:rPr>
              <a:t>구매완료율 4.4%의 한계를 보고 D7 재방문을 신규 유저 경험의 primary KPI로 재정의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298448"/>
            <a:ext cx="324612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298448"/>
            <a:ext cx="64008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444751"/>
            <a:ext cx="2926079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1100" b="1">
                <a:solidFill>
                  <a:srgbClr val="1C2026"/>
                </a:solidFill>
                <a:latin typeface="Aptos"/>
              </a:rPr>
              <a:t>2. 데이터 신뢰성을 먼저 잠갔다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737360"/>
            <a:ext cx="2926079" cy="73152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80" b="0">
                <a:solidFill>
                  <a:srgbClr val="5B6676"/>
                </a:solidFill>
                <a:latin typeface="Aptos"/>
              </a:rPr>
              <a:t>DuckDB QA로 필드, 이벤트 어휘, 기간, 가격, denominator를 검증한 뒤 분석 진행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298448"/>
            <a:ext cx="324612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298448"/>
            <a:ext cx="64008" cy="1234440"/>
          </a:xfrm>
          <a:prstGeom prst="rect">
            <a:avLst/>
          </a:prstGeom>
          <a:solidFill>
            <a:srgbClr val="1C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1" y="1444751"/>
            <a:ext cx="2926079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1100" b="1">
                <a:solidFill>
                  <a:srgbClr val="1C2026"/>
                </a:solidFill>
                <a:latin typeface="Aptos"/>
              </a:rPr>
              <a:t>3. 병목과 후보를 분리했다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1737360"/>
            <a:ext cx="2926079" cy="73152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80" b="0">
                <a:solidFill>
                  <a:srgbClr val="5B6676"/>
                </a:solidFill>
                <a:latin typeface="Aptos"/>
              </a:rPr>
              <a:t>조회 -&gt; 찜 최대 유출과 첫날 활동 폭 +27pp 신호를 실험 후보로 연결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172968"/>
            <a:ext cx="324612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172968"/>
            <a:ext cx="64008" cy="12344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319272"/>
            <a:ext cx="2926079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1100" b="1">
                <a:solidFill>
                  <a:srgbClr val="1C2026"/>
                </a:solidFill>
                <a:latin typeface="Aptos"/>
              </a:rPr>
              <a:t>4. 상관을 인과로 포장하지 않았다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3611879"/>
            <a:ext cx="2926079" cy="73152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80" b="0">
                <a:solidFill>
                  <a:srgbClr val="5B6676"/>
                </a:solidFill>
                <a:latin typeface="Aptos"/>
              </a:rPr>
              <a:t>cart +16.0pp -&gt; +3.2pp, cat&gt;=3 +25.4pp -&gt; -6.5pp로 관측 신호의 한계 명시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3172968"/>
            <a:ext cx="324612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3172968"/>
            <a:ext cx="64008" cy="1234440"/>
          </a:xfrm>
          <a:prstGeom prst="rect">
            <a:avLst/>
          </a:prstGeom>
          <a:solidFill>
            <a:srgbClr val="1F4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3319272"/>
            <a:ext cx="2926079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1100" b="1">
                <a:solidFill>
                  <a:srgbClr val="1C2026"/>
                </a:solidFill>
                <a:latin typeface="Aptos"/>
              </a:rPr>
              <a:t>5. 실행 가능한 실험으로 끝냈다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3611879"/>
            <a:ext cx="2926079" cy="73152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80" b="0">
                <a:solidFill>
                  <a:srgbClr val="5B6676"/>
                </a:solidFill>
                <a:latin typeface="Aptos"/>
              </a:rPr>
              <a:t>D7 revisit, guardrails, MDE 2.0pp, 9,805/arm, 4.7 weeks까지 handoff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92440" y="3172968"/>
            <a:ext cx="324612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172968"/>
            <a:ext cx="64008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57031" y="3319272"/>
            <a:ext cx="2926079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1100" b="1">
                <a:solidFill>
                  <a:srgbClr val="1C2026"/>
                </a:solidFill>
                <a:latin typeface="Aptos"/>
              </a:rPr>
              <a:t>6. 재현 가능한 산출물로 남겼다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7031" y="3611879"/>
            <a:ext cx="2926079" cy="73152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80" b="0">
                <a:solidFill>
                  <a:srgbClr val="5B6676"/>
                </a:solidFill>
                <a:latin typeface="Aptos"/>
              </a:rPr>
              <a:t>Makefile pipeline, generated reports, onepager, portfolio report로 검증 경로 제공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5074920"/>
            <a:ext cx="1069848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5074920"/>
            <a:ext cx="64008" cy="731520"/>
          </a:xfrm>
          <a:prstGeom prst="rect">
            <a:avLst/>
          </a:prstGeom>
          <a:solidFill>
            <a:srgbClr val="1F4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21224"/>
            <a:ext cx="10378440" cy="20116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1100" b="1">
                <a:solidFill>
                  <a:srgbClr val="1C2026"/>
                </a:solidFill>
                <a:latin typeface="Aptos"/>
              </a:rPr>
              <a:t>Interview takeaway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" y="5513831"/>
            <a:ext cx="10378440" cy="22860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880" b="0">
                <a:solidFill>
                  <a:srgbClr val="5B6676"/>
                </a:solidFill>
                <a:latin typeface="Aptos"/>
              </a:rPr>
              <a:t>이 프로젝트의 핵심은 예쁜 차트가 아니라, 낮은 전환율 문제를 재정의하고 관측 신호의 한계를 검증한 뒤 실행 가능한 A/B 설계로 넘긴 사고 과정이다.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19088"/>
            <a:ext cx="3657600" cy="18288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r>
              <a:rPr sz="750" b="0">
                <a:solidFill>
                  <a:srgbClr val="5B6676"/>
                </a:solidFill>
                <a:latin typeface="Aptos"/>
              </a:rPr>
              <a:t>이승윤 | Product / Growth Data Analyst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6419088"/>
            <a:ext cx="4023360" cy="182880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r"/>
            <a:r>
              <a:rPr sz="750" b="0">
                <a:solidFill>
                  <a:srgbClr val="5B6676"/>
                </a:solidFill>
                <a:latin typeface="Aptos"/>
              </a:rPr>
              <a:t>github.com/seungyoon-lee29/fashion-c2c-retention-analysis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